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 Extra Bold"/>
      <p:regular r:id="rId17"/>
    </p:embeddedFont>
    <p:embeddedFont>
      <p:font typeface="Arimo"/>
      <p:regular r:id="rId18"/>
    </p:embeddedFont>
    <p:embeddedFont>
      <p:font typeface="Arimo"/>
      <p:regular r:id="rId19"/>
    </p:embeddedFont>
    <p:embeddedFont>
      <p:font typeface="Arimo"/>
      <p:regular r:id="rId20"/>
    </p:embeddedFont>
    <p:embeddedFont>
      <p:font typeface="Arim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3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slideLayouts/slideLayout5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 ?><Relationships xmlns="http://schemas.openxmlformats.org/package/2006/relationships"><Relationship Id="rId1" Target="../media/image-5-1.jpeg" Type="http://schemas.openxmlformats.org/officeDocument/2006/relationships/image"/><Relationship Id="rId2" Target="../slideLayouts/slideLayout6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 ?><Relationships xmlns="http://schemas.openxmlformats.org/package/2006/relationships"><Relationship Id="rId1" Target="../media/image-8-1.jpeg" Type="http://schemas.openxmlformats.org/officeDocument/2006/relationships/image"/><Relationship Id="rId2" Target="../slideLayouts/slideLayout9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 ?><Relationships xmlns="http://schemas.openxmlformats.org/package/2006/relationships"><Relationship Id="rId1" Target="../media/image-9-1.jpeg" Type="http://schemas.openxmlformats.org/officeDocument/2006/relationships/image"/><Relationship Id="rId2" Target="../slideLayouts/slideLayout10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slideLayouts/slideLayout1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YouTube Analytics Dashboard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A. Sowmya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| Roll No: 23471A05D9 | Computer Science Engineering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782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Why YouTube Analytics Matters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62789"/>
            <a:ext cx="29490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Digital Landscape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843933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YouTube has become the second-largest search engine globally, with over 2.7 billion monthly active users. For content creators and businesses, understanding viewer behavior is no longer optional—it's essential for survival and growth.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2627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Advantage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843933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analytics transforms raw numbers into actionable insights. By analyzing views, engagement patterns, and audience demographics, creators can optimize content strategy, improve viewer retention, and maximize monetization opportunities.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3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6390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78082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96787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6880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Source File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17849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Excel dataset containing comprehensive YouTube channel metrics collected over multiple reporting periods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546390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78082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96787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6880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Columns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17849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Views, Uploads, Rankings, Categories, Channel Names, Timestamps, and Geographic Coordinates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546390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78082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96787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6880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Primary Focus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17849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Performance metrics including view counts, upload frequency, category distribution, and regional insights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1196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dataset provided a comprehensive foundation for creating an interactive Power BI dashboard that transforms raw data into visual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0524" y="1121331"/>
            <a:ext cx="4615339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Cleaning Process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0524" y="1873329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00524" y="2148602"/>
            <a:ext cx="7915751" cy="2286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6" name="Text 3"/>
          <p:cNvSpPr/>
          <p:nvPr/>
        </p:nvSpPr>
        <p:spPr>
          <a:xfrm>
            <a:off x="6100524" y="2281952"/>
            <a:ext cx="2829401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Missing Value Identification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100524" y="2637473"/>
            <a:ext cx="791575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Detected and documented null entries across critical fields including view counts and category assignments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00524" y="3402687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0524" y="3677960"/>
            <a:ext cx="7915751" cy="2286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0" name="Text 7"/>
          <p:cNvSpPr/>
          <p:nvPr/>
        </p:nvSpPr>
        <p:spPr>
          <a:xfrm>
            <a:off x="6100524" y="3811310"/>
            <a:ext cx="2854404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Scientific Notation Removal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00524" y="4166830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Converted E-notation values to standard numeric format for accurate aggregation and visualization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00524" y="4683085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00524" y="4958358"/>
            <a:ext cx="7915751" cy="2286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4" name="Text 11"/>
          <p:cNvSpPr/>
          <p:nvPr/>
        </p:nvSpPr>
        <p:spPr>
          <a:xfrm>
            <a:off x="6100524" y="5091708"/>
            <a:ext cx="2758797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Type Standardization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00524" y="5447228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Ensured consistent formatting across all numeric, date, and text fields for reliable analysis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00524" y="5963483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00524" y="6238756"/>
            <a:ext cx="7915751" cy="2286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8" name="Text 15"/>
          <p:cNvSpPr/>
          <p:nvPr/>
        </p:nvSpPr>
        <p:spPr>
          <a:xfrm>
            <a:off x="6100524" y="6372106"/>
            <a:ext cx="3076694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Geographic Coordinate Fixing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100524" y="6727627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Formatted longitude values as negative to correctly represent Western Hemisphere locations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930" y="1000839"/>
            <a:ext cx="8653701" cy="692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Power BI Dashboard Architecture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30" y="2303978"/>
            <a:ext cx="8311753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6085" y="2235041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Dashboard Structure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36085" y="2798088"/>
            <a:ext cx="4225885" cy="175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Power BI dashboard integrates multiple visualization types to present a comprehensive view of YouTube performance metrics. Key components include: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6085" y="4746188"/>
            <a:ext cx="4225885" cy="240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Card visuals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summary metrics and KPIs</a:t>
            </a:r>
            <a:endParaRPr lang="en-US" sz="170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Bar charts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categorical comparisons</a:t>
            </a:r>
            <a:endParaRPr lang="en-US" sz="170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Pie charts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proportional distributions</a:t>
            </a:r>
            <a:endParaRPr lang="en-US" sz="170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Area charts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trend analysis</a:t>
            </a:r>
            <a:endParaRPr lang="en-US" sz="170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Filled maps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geographic insights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23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Metrics Analyzed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813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147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Maximum Uploads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66034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Highest number of video uploads recorded across the analyzed channels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13813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Minimum View Rank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66034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Best-performing channel position based on view counts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13813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84K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Average Views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66034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 view count over the last 30 days for performance tracking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4130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metrics serve as critical benchmarks for evaluating channel performance and identifying opportunities for growth and optimization.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5116"/>
            <a:ext cx="86753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Visualization Techniques Applied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87523"/>
            <a:ext cx="3048000" cy="30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62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Bar Chart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52755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Category-wise performance comparison showing views distribution across different content types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087523"/>
            <a:ext cx="3048119" cy="30481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5362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Pie Chart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85287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Proportional distribution of uploads and views by category for quick percentage insights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087523"/>
            <a:ext cx="3048119" cy="30481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362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Area Chart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85287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Trend analysis over time periods revealing performance patterns and growth trajectories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087523"/>
            <a:ext cx="3048119" cy="30481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5362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Filled Map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85287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Geographic performance visualization highlighting regional differences in viewer engagement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7198" y="1020723"/>
            <a:ext cx="7517725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Insights from Dashboard Analysis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57198" y="1862614"/>
            <a:ext cx="7802404" cy="1674138"/>
          </a:xfrm>
          <a:prstGeom prst="roundRect">
            <a:avLst>
              <a:gd name="adj" fmla="val 6554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5E4C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34338" y="1862614"/>
            <a:ext cx="91440" cy="1674138"/>
          </a:xfrm>
          <a:prstGeom prst="roundRect">
            <a:avLst>
              <a:gd name="adj" fmla="val 88044"/>
            </a:avLst>
          </a:prstGeom>
          <a:solidFill>
            <a:srgbClr val="5E4CE6"/>
          </a:solidFill>
          <a:ln/>
        </p:spPr>
      </p:sp>
      <p:sp>
        <p:nvSpPr>
          <p:cNvPr id="6" name="Text 3"/>
          <p:cNvSpPr/>
          <p:nvPr/>
        </p:nvSpPr>
        <p:spPr>
          <a:xfrm>
            <a:off x="6440210" y="2077045"/>
            <a:ext cx="3097530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Top-Performing Categories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440210" y="2473643"/>
            <a:ext cx="7304961" cy="84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Entertainment and Education channels dominate view counts, while Gaming shows highest upload frequency. Category selection significantly impacts discoverability and engagement rates.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57198" y="3698677"/>
            <a:ext cx="7802404" cy="1674138"/>
          </a:xfrm>
          <a:prstGeom prst="roundRect">
            <a:avLst>
              <a:gd name="adj" fmla="val 6554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5E4C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34338" y="3698677"/>
            <a:ext cx="91440" cy="1674138"/>
          </a:xfrm>
          <a:prstGeom prst="roundRect">
            <a:avLst>
              <a:gd name="adj" fmla="val 88044"/>
            </a:avLst>
          </a:prstGeom>
          <a:solidFill>
            <a:srgbClr val="5E4CE6"/>
          </a:solidFill>
          <a:ln/>
        </p:spPr>
      </p:sp>
      <p:sp>
        <p:nvSpPr>
          <p:cNvPr id="10" name="Text 7"/>
          <p:cNvSpPr/>
          <p:nvPr/>
        </p:nvSpPr>
        <p:spPr>
          <a:xfrm>
            <a:off x="6440210" y="3913108"/>
            <a:ext cx="2833687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Upload Frequency Trends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440210" y="4309705"/>
            <a:ext cx="7304961" cy="84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Channels with 3+ weekly uploads show 40% higher view growth compared to sporadic uploaders. Consistency correlates strongly with audience retention and subscriber growth.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57198" y="5534739"/>
            <a:ext cx="7802404" cy="1674138"/>
          </a:xfrm>
          <a:prstGeom prst="roundRect">
            <a:avLst>
              <a:gd name="adj" fmla="val 6554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5E4C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34338" y="5534739"/>
            <a:ext cx="91440" cy="1674138"/>
          </a:xfrm>
          <a:prstGeom prst="roundRect">
            <a:avLst>
              <a:gd name="adj" fmla="val 88044"/>
            </a:avLst>
          </a:prstGeom>
          <a:solidFill>
            <a:srgbClr val="5E4CE6"/>
          </a:solidFill>
          <a:ln/>
        </p:spPr>
      </p:sp>
      <p:sp>
        <p:nvSpPr>
          <p:cNvPr id="14" name="Text 11"/>
          <p:cNvSpPr/>
          <p:nvPr/>
        </p:nvSpPr>
        <p:spPr>
          <a:xfrm>
            <a:off x="6440210" y="5749171"/>
            <a:ext cx="3523178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Regional Performance Patterns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440210" y="6145768"/>
            <a:ext cx="7304961" cy="84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North American and European regions show highest engagement per view. Asian markets demonstrate fastest growth rates with 65% year-over-year increase in video consumption.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6055995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Challenges Encountered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856" y="2647236"/>
            <a:ext cx="482084" cy="4820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0163" y="2687360"/>
            <a:ext cx="321350" cy="401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4346" y="2720816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Quality Issues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34346" y="3258026"/>
            <a:ext cx="336494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Inconsistent formatting and missing values required extensive manual verification and cross-referencing with source documentation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52298" y="2647236"/>
            <a:ext cx="482084" cy="4820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2606" y="2687360"/>
            <a:ext cx="321350" cy="401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36788" y="2720816"/>
            <a:ext cx="333827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Column Mapping Problems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736788" y="3258026"/>
            <a:ext cx="3365063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 dataset contained non-standard column names and merged cells that needed restructuring before Power BI import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9856" y="5329714"/>
            <a:ext cx="482084" cy="4820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163" y="5369838"/>
            <a:ext cx="321350" cy="401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434346" y="5403294"/>
            <a:ext cx="295167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Geographic Formatting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34346" y="5940504"/>
            <a:ext cx="766750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Longitude values incorrectly formatted as positive required batch conversion to negative values for accurate map rendering</a:t>
            </a:r>
            <a:endParaRPr lang="en-US" sz="16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3867" y="1005245"/>
            <a:ext cx="7769066" cy="1227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Conclusion: Data-Driven Decision Making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3867" y="2488168"/>
            <a:ext cx="3799403" cy="2869525"/>
          </a:xfrm>
          <a:prstGeom prst="roundRect">
            <a:avLst>
              <a:gd name="adj" fmla="val 287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77821" y="2692122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Findings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77821" y="3100983"/>
            <a:ext cx="3391495" cy="205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analysis revealed clear correlations between upload frequency, content category selection, and viewer engagement. Top-performing channels maintain consistent upload schedules while focusing on high-demand categories.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143411" y="2488168"/>
            <a:ext cx="3799523" cy="2869525"/>
          </a:xfrm>
          <a:prstGeom prst="roundRect">
            <a:avLst>
              <a:gd name="adj" fmla="val 287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47365" y="2692122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Power BI Value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47365" y="3100983"/>
            <a:ext cx="3391614" cy="205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transformed complex Excel data into interactive visualizations, enabling rapid identification of performance trends and anomalies. Real-time dashboards empower creators to adjust strategies based on actual viewer behavior.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3867" y="5527834"/>
            <a:ext cx="7769066" cy="1696522"/>
          </a:xfrm>
          <a:prstGeom prst="roundRect">
            <a:avLst>
              <a:gd name="adj" fmla="val 486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7821" y="5731788"/>
            <a:ext cx="2935843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Future Recommendations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77821" y="6140648"/>
            <a:ext cx="7361158" cy="879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automated data pipelines, expand geographic targeting analysis, and integrate engagement metrics (likes, comments, watch time) for comprehensive performance evaluation.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2026-03-25T14:08:36Z</dcterms:created>
  <dcterms:modified xsi:type="dcterms:W3CDTF">2026-03-25T14:08:36Z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3094451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